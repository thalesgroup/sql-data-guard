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customXml" Target="../customXml/item1.xml"/><Relationship Id="rId9" Type="http://schemas.openxmlformats.org/officeDocument/2006/relationships/customXml" Target="../customXml/item2.xml"/><Relationship Id="rId10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D43AD-5E67-4683-935B-4BE4E47F559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B2E21-22F4-412A-839E-C4B43345B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155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A5177-D234-4B88-D8FE-B97364EC6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B64FDA2-2540-5C12-D41A-36B4D74CA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03AD5B8-7A5C-04B1-1BD8-AA75E90A7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102CF13-53DF-9075-3780-C0CCADFD5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664631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1949725-ACD2-44C4-85AF-10B39EC61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200" y="1125538"/>
            <a:ext cx="11090938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E9BD7F-B493-996F-ABD0-ABADD493C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3789B1-45FE-41D7-AB00-BF9FA7CBE2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92344" y="6650661"/>
            <a:ext cx="2119242" cy="123111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F3CCC-A7A2-43F4-B41C-6E884F53F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7951" y="6650661"/>
            <a:ext cx="232665" cy="123111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D9A5160-6218-4E5A-B9E6-B93E3DAE377C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3565D645-6BBD-3CE1-C5FC-4D2A604E3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0863" y="6650661"/>
            <a:ext cx="4716524" cy="12311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>
              <a:defRPr lang="de-DE" sz="800">
                <a:solidFill>
                  <a:schemeClr val="bg1"/>
                </a:solidFill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A4I Hackathon | 4-quadrant</a:t>
            </a:r>
          </a:p>
        </p:txBody>
      </p:sp>
    </p:spTree>
    <p:extLst>
      <p:ext uri="{BB962C8B-B14F-4D97-AF65-F5344CB8AC3E}">
        <p14:creationId xmlns:p14="http://schemas.microsoft.com/office/powerpoint/2010/main" val="42341190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2ED2668-1B9C-EAA2-9E85-0034827938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78052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ED2668-1B9C-EAA2-9E85-0034827938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GRID" hidden="1">
            <a:extLst>
              <a:ext uri="{FF2B5EF4-FFF2-40B4-BE49-F238E27FC236}">
                <a16:creationId xmlns:a16="http://schemas.microsoft.com/office/drawing/2014/main" id="{A27D0679-8D96-1186-A961-BDC17B525A6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863" y="560562"/>
            <a:ext cx="11089753" cy="5748164"/>
          </a:xfrm>
          <a:prstGeom prst="rect">
            <a:avLst/>
          </a:prstGeom>
        </p:spPr>
      </p:pic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551384" y="1628800"/>
            <a:ext cx="11090938" cy="48290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Enter </a:t>
            </a:r>
            <a:r>
              <a:rPr lang="fr-FR" err="1"/>
              <a:t>your</a:t>
            </a:r>
            <a:r>
              <a:rPr lang="fr-FR"/>
              <a:t> contents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en-US"/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9E7A3BD3-DDA4-42A3-B05C-F6E4E51D9B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92344" y="6650661"/>
            <a:ext cx="2119242" cy="12311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>
              <a:defRPr lang="de-DE" sz="800" smtClean="0">
                <a:solidFill>
                  <a:schemeClr val="bg1"/>
                </a:solidFill>
                <a:latin typeface="+mn-lt"/>
              </a:defRPr>
            </a:lvl1pPr>
          </a:lstStyle>
          <a:p>
            <a:pPr algn="r">
              <a:spcBef>
                <a:spcPts val="1000"/>
              </a:spcBef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7AB8C2A9-4C2D-43C3-9F07-0C825FF513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951" y="6650661"/>
            <a:ext cx="232665" cy="12311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lang="de-DE" sz="80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algn="r"/>
            <a:fld id="{5D9A5160-6218-4E5A-B9E6-B93E3DAE377C}" type="slidenum">
              <a:rPr lang="en-US" smtClean="0"/>
              <a:pPr algn="r"/>
              <a:t>‹N°›</a:t>
            </a:fld>
            <a:endParaRPr lang="en-US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D28F27D4-FFE2-4FAB-BA1B-9D013846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8744"/>
            <a:ext cx="10872000" cy="1116000"/>
          </a:xfrm>
          <a:prstGeom prst="rect">
            <a:avLst/>
          </a:prstGeom>
        </p:spPr>
        <p:txBody>
          <a:bodyPr vert="horz" lIns="0" tIns="216000" rIns="0" bIns="0" rtlCol="0" anchor="t" anchorCtr="0">
            <a:noAutofit/>
          </a:bodyPr>
          <a:lstStyle/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de-DE"/>
          </a:p>
        </p:txBody>
      </p:sp>
      <p:sp>
        <p:nvSpPr>
          <p:cNvPr id="20" name="Stickerbox" hidden="1">
            <a:extLst>
              <a:ext uri="{FF2B5EF4-FFF2-40B4-BE49-F238E27FC236}">
                <a16:creationId xmlns:a16="http://schemas.microsoft.com/office/drawing/2014/main" id="{D03A9799-ACDC-4925-8EE1-5C65CCCBD0F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1114363" y="1124744"/>
            <a:ext cx="804808" cy="402775"/>
          </a:xfrm>
          <a:prstGeom prst="rect">
            <a:avLst/>
          </a:prstGeom>
          <a:solidFill>
            <a:schemeClr val="accent2"/>
          </a:solidFill>
          <a:ln w="10795">
            <a:noFill/>
            <a:round/>
            <a:headEnd/>
            <a:tailEnd/>
          </a:ln>
          <a:effectLst/>
        </p:spPr>
        <p:txBody>
          <a:bodyPr vert="horz" wrap="none" lIns="108000" tIns="108000" rIns="108000" bIns="1080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0" normalizeH="0" baseline="0" noProof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Sticker</a:t>
            </a:r>
          </a:p>
        </p:txBody>
      </p:sp>
      <p:sp>
        <p:nvSpPr>
          <p:cNvPr id="22" name="CapgeminiBox" hidden="1">
            <a:extLst>
              <a:ext uri="{FF2B5EF4-FFF2-40B4-BE49-F238E27FC236}">
                <a16:creationId xmlns:a16="http://schemas.microsoft.com/office/drawing/2014/main" id="{7C293A1E-B461-4AFE-976D-6EE38B2AFEB4}"/>
              </a:ext>
            </a:extLst>
          </p:cNvPr>
          <p:cNvSpPr txBox="1">
            <a:spLocks/>
          </p:cNvSpPr>
          <p:nvPr userDrawn="1"/>
        </p:nvSpPr>
        <p:spPr>
          <a:xfrm>
            <a:off x="9592" y="0"/>
            <a:ext cx="1837661" cy="260350"/>
          </a:xfrm>
          <a:prstGeom prst="rect">
            <a:avLst/>
          </a:prstGeom>
        </p:spPr>
        <p:txBody>
          <a:bodyPr vert="horz" lIns="0" tIns="0" rIns="18000" bIns="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Capgemini </a:t>
            </a:r>
            <a:r>
              <a:rPr lang="fr-FR" err="1"/>
              <a:t>Invent</a:t>
            </a:r>
            <a:r>
              <a:rPr lang="fr-FR"/>
              <a:t> v10.0</a:t>
            </a:r>
          </a:p>
        </p:txBody>
      </p:sp>
      <p:sp>
        <p:nvSpPr>
          <p:cNvPr id="29" name="FootnoteAndSource" hidden="1">
            <a:extLst>
              <a:ext uri="{FF2B5EF4-FFF2-40B4-BE49-F238E27FC236}">
                <a16:creationId xmlns:a16="http://schemas.microsoft.com/office/drawing/2014/main" id="{96E9BC24-418C-4CE4-8E81-3AF9AB04DEAA}"/>
              </a:ext>
            </a:extLst>
          </p:cNvPr>
          <p:cNvSpPr txBox="1"/>
          <p:nvPr userDrawn="1"/>
        </p:nvSpPr>
        <p:spPr>
          <a:xfrm>
            <a:off x="545323" y="6304130"/>
            <a:ext cx="11340000" cy="162096"/>
          </a:xfrm>
          <a:prstGeom prst="rect">
            <a:avLst/>
          </a:prstGeom>
          <a:noFill/>
        </p:spPr>
        <p:txBody>
          <a:bodyPr vert="horz" wrap="square" lIns="0" tIns="25400" rIns="0" bIns="25400" rtlCol="0" anchor="b" anchorCtr="0">
            <a:spAutoFit/>
          </a:bodyPr>
          <a:lstStyle>
            <a:defPPr>
              <a:defRPr lang="pt-PT"/>
            </a:defPPr>
            <a:lvl1pPr marL="429768" indent="-429768">
              <a:lnSpc>
                <a:spcPct val="90000"/>
              </a:lnSpc>
              <a:tabLst>
                <a:tab pos="347472" algn="r"/>
              </a:tabLst>
              <a:defRPr sz="800"/>
            </a:lvl1pPr>
          </a:lstStyle>
          <a:p>
            <a:pPr marL="429768" indent="-429768" defTabSz="914400">
              <a:lnSpc>
                <a:spcPct val="90000"/>
              </a:lnSpc>
              <a:tabLst>
                <a:tab pos="347472" algn="r"/>
              </a:tabLst>
            </a:pPr>
            <a:r>
              <a:rPr lang="de-DE" sz="800"/>
              <a:t>	Source:	Source Text</a:t>
            </a:r>
          </a:p>
        </p:txBody>
      </p:sp>
      <p:sp>
        <p:nvSpPr>
          <p:cNvPr id="19" name="Footer Placeholder 9">
            <a:extLst>
              <a:ext uri="{FF2B5EF4-FFF2-40B4-BE49-F238E27FC236}">
                <a16:creationId xmlns:a16="http://schemas.microsoft.com/office/drawing/2014/main" id="{D3809B95-B2AA-47A9-8F86-88BF7BDE32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0863" y="6650661"/>
            <a:ext cx="4716524" cy="12311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>
              <a:defRPr lang="de-DE" sz="800">
                <a:solidFill>
                  <a:schemeClr val="bg1"/>
                </a:solidFill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A4I Hackathon | 4-quadrant</a:t>
            </a:r>
          </a:p>
        </p:txBody>
      </p:sp>
    </p:spTree>
    <p:extLst>
      <p:ext uri="{BB962C8B-B14F-4D97-AF65-F5344CB8AC3E}">
        <p14:creationId xmlns:p14="http://schemas.microsoft.com/office/powerpoint/2010/main" val="2779687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dt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2800" b="0" i="0" u="none" strike="noStrike" kern="1200" cap="none" spc="0" normalizeH="0" baseline="0" noProof="0" dirty="0">
          <a:ln>
            <a:noFill/>
          </a:ln>
          <a:solidFill>
            <a:schemeClr val="bg1"/>
          </a:solidFill>
          <a:effectLst/>
          <a:uLnTx/>
          <a:uFillTx/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bg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ClrTx/>
        <a:buFont typeface="Wingdings" panose="05000000000000000000" pitchFamily="2" charset="2"/>
        <a:buChar char="§"/>
        <a:defRPr sz="1400" kern="1200">
          <a:solidFill>
            <a:schemeClr val="bg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53975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Verdana" panose="020B0604030504040204" pitchFamily="34" charset="0"/>
        <a:buChar char="‒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4pPr>
      <a:lvl5pPr marL="719138" indent="-180975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orient="horz" pos="709">
          <p15:clr>
            <a:srgbClr val="F26B43"/>
          </p15:clr>
        </p15:guide>
        <p15:guide id="19" orient="horz" pos="4065">
          <p15:clr>
            <a:srgbClr val="F26B43"/>
          </p15:clr>
        </p15:guide>
        <p15:guide id="20" pos="347">
          <p15:clr>
            <a:srgbClr val="F26B43"/>
          </p15:clr>
        </p15:guide>
        <p15:guide id="21" pos="3840">
          <p15:clr>
            <a:srgbClr val="F26B43"/>
          </p15:clr>
        </p15:guide>
        <p15:guide id="22" pos="7333">
          <p15:clr>
            <a:srgbClr val="F26B43"/>
          </p15:clr>
        </p15:guide>
        <p15:guide id="23" orient="horz" pos="164">
          <p15:clr>
            <a:srgbClr val="F26B43"/>
          </p15:clr>
        </p15:guide>
        <p15:guide id="24" orient="horz" pos="1026">
          <p15:clr>
            <a:srgbClr val="F26B43"/>
          </p15:clr>
        </p15:guide>
        <p15:guide id="25" orient="horz" pos="346">
          <p15:clr>
            <a:srgbClr val="F26B43"/>
          </p15:clr>
        </p15:guide>
        <p15:guide id="26" orient="horz" pos="397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/>
            </a:gs>
            <a:gs pos="0">
              <a:schemeClr val="accent4"/>
            </a:gs>
          </a:gsLst>
          <a:lin ang="18900000" scaled="0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ABF451-DAE6-3A8A-6BF1-D1BEB3544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2FC960C-F7AF-AE19-85F8-67B71747E91D}"/>
              </a:ext>
            </a:extLst>
          </p:cNvPr>
          <p:cNvGrpSpPr/>
          <p:nvPr/>
        </p:nvGrpSpPr>
        <p:grpSpPr>
          <a:xfrm>
            <a:off x="162962" y="1462400"/>
            <a:ext cx="11878147" cy="4990403"/>
            <a:chOff x="324501" y="1469309"/>
            <a:chExt cx="11353564" cy="5004419"/>
          </a:xfrm>
        </p:grpSpPr>
        <p:sp>
          <p:nvSpPr>
            <p:cNvPr id="90" name="Rectangle : coins arrondis 89">
              <a:extLst>
                <a:ext uri="{FF2B5EF4-FFF2-40B4-BE49-F238E27FC236}">
                  <a16:creationId xmlns:a16="http://schemas.microsoft.com/office/drawing/2014/main" id="{B45F2EEC-C229-EA54-043A-9CF5A0637AAC}"/>
                </a:ext>
              </a:extLst>
            </p:cNvPr>
            <p:cNvSpPr/>
            <p:nvPr/>
          </p:nvSpPr>
          <p:spPr>
            <a:xfrm>
              <a:off x="324501" y="1469309"/>
              <a:ext cx="11353564" cy="5004419"/>
            </a:xfrm>
            <a:prstGeom prst="roundRect">
              <a:avLst>
                <a:gd name="adj" fmla="val 3195"/>
              </a:avLst>
            </a:prstGeom>
            <a:solidFill>
              <a:schemeClr val="accent1">
                <a:lumMod val="50000"/>
              </a:schemeClr>
            </a:solidFill>
            <a:ln w="9525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E6CF028-23BF-3BEA-5825-6A93180CEE4E}"/>
                </a:ext>
              </a:extLst>
            </p:cNvPr>
            <p:cNvGrpSpPr/>
            <p:nvPr/>
          </p:nvGrpSpPr>
          <p:grpSpPr>
            <a:xfrm>
              <a:off x="415354" y="1571217"/>
              <a:ext cx="11171858" cy="4800602"/>
              <a:chOff x="352425" y="1562100"/>
              <a:chExt cx="11171858" cy="4800602"/>
            </a:xfrm>
          </p:grpSpPr>
          <p:sp>
            <p:nvSpPr>
              <p:cNvPr id="92" name="TextBox 23">
                <a:extLst>
                  <a:ext uri="{FF2B5EF4-FFF2-40B4-BE49-F238E27FC236}">
                    <a16:creationId xmlns:a16="http://schemas.microsoft.com/office/drawing/2014/main" id="{D8A868FE-FDDF-878C-18A2-066D7C5E770C}"/>
                  </a:ext>
                </a:extLst>
              </p:cNvPr>
              <p:cNvSpPr txBox="1"/>
              <p:nvPr/>
            </p:nvSpPr>
            <p:spPr>
              <a:xfrm>
                <a:off x="352425" y="1562100"/>
                <a:ext cx="5554142" cy="2352676"/>
              </a:xfrm>
              <a:prstGeom prst="roundRect">
                <a:avLst>
                  <a:gd name="adj" fmla="val 2142"/>
                </a:avLst>
              </a:prstGeom>
              <a:solidFill>
                <a:srgbClr val="000000">
                  <a:alpha val="50196"/>
                </a:srgb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>
                <a:defPPr>
                  <a:defRPr lang="de-DE"/>
                </a:defPPr>
                <a:lvl1pPr algn="just">
                  <a:spcBef>
                    <a:spcPts val="400"/>
                  </a:spcBef>
                  <a:buClr>
                    <a:schemeClr val="tx1"/>
                  </a:buClr>
                  <a:tabLst>
                    <a:tab pos="809625" algn="l"/>
                  </a:tabLst>
                  <a:defRPr sz="1200">
                    <a:latin typeface="Calibri" pitchFamily="34" charset="0"/>
                  </a:defRPr>
                </a:lvl1pPr>
                <a:lvl2pPr marL="0" lvl="1">
                  <a:spcBef>
                    <a:spcPts val="0"/>
                  </a:spcBef>
                  <a:buClr>
                    <a:schemeClr val="accent2"/>
                  </a:buClr>
                  <a:buSzPct val="100000"/>
                  <a:defRPr sz="1400">
                    <a:solidFill>
                      <a:srgbClr val="2E2E2E"/>
                    </a:solidFill>
                    <a:latin typeface="Calibri" pitchFamily="34" charset="0"/>
                    <a:cs typeface="Calibri" pitchFamily="34" charset="0"/>
                  </a:defRPr>
                </a:lvl2pPr>
              </a:lstStyle>
              <a:p>
                <a:pPr marL="0" marR="0" lvl="1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Problem &amp; opportunity</a:t>
                </a: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LLM-generated SQL can't run as prepared statements</a:t>
                </a: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SQL injection &amp; data leaks risk GDPR / CCPA fines</a:t>
                </a: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DB permissions can't express row/column-level rules</a:t>
                </a:r>
              </a:p>
            </p:txBody>
          </p:sp>
          <p:sp>
            <p:nvSpPr>
              <p:cNvPr id="95" name="TextBox 23">
                <a:extLst>
                  <a:ext uri="{FF2B5EF4-FFF2-40B4-BE49-F238E27FC236}">
                    <a16:creationId xmlns:a16="http://schemas.microsoft.com/office/drawing/2014/main" id="{C6D8F4F7-BE8D-83B8-4ECD-87ABBBA53C8A}"/>
                  </a:ext>
                </a:extLst>
              </p:cNvPr>
              <p:cNvSpPr txBox="1"/>
              <p:nvPr/>
            </p:nvSpPr>
            <p:spPr>
              <a:xfrm>
                <a:off x="5970141" y="4010026"/>
                <a:ext cx="5554142" cy="2352676"/>
              </a:xfrm>
              <a:prstGeom prst="roundRect">
                <a:avLst>
                  <a:gd name="adj" fmla="val 2142"/>
                </a:avLst>
              </a:prstGeom>
              <a:solidFill>
                <a:srgbClr val="000000">
                  <a:alpha val="50196"/>
                </a:srgb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>
                <a:defPPr>
                  <a:defRPr lang="de-DE"/>
                </a:defPPr>
                <a:lvl1pPr algn="just">
                  <a:spcBef>
                    <a:spcPts val="400"/>
                  </a:spcBef>
                  <a:buClr>
                    <a:schemeClr val="tx1"/>
                  </a:buClr>
                  <a:tabLst>
                    <a:tab pos="809625" algn="l"/>
                  </a:tabLst>
                  <a:defRPr sz="1200">
                    <a:latin typeface="Calibri" pitchFamily="34" charset="0"/>
                  </a:defRPr>
                </a:lvl1pPr>
                <a:lvl2pPr marL="0" lvl="1">
                  <a:spcBef>
                    <a:spcPts val="0"/>
                  </a:spcBef>
                  <a:buClr>
                    <a:schemeClr val="accent2"/>
                  </a:buClr>
                  <a:buSzPct val="100000"/>
                  <a:defRPr sz="1400">
                    <a:solidFill>
                      <a:srgbClr val="2E2E2E"/>
                    </a:solidFill>
                    <a:latin typeface="Calibri" pitchFamily="34" charset="0"/>
                    <a:cs typeface="Calibri" pitchFamily="34" charset="0"/>
                  </a:defRPr>
                </a:lvl2pPr>
              </a:lstStyle>
              <a:p>
                <a:pPr marL="0" marR="0" lvl="1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Value &amp; Impact</a:t>
                </a:r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Calibri" pitchFamily="34" charset="0"/>
                </a:endParaRP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Blocks data breaches before they reach the DB</a:t>
                </a: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Drop-in for any LLM-to-SQL app — zero DB changes</a:t>
                </a: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Reusable as pip package + Docker image</a:t>
                </a: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Next: more dialects, policy templates, auth</a:t>
                </a:r>
              </a:p>
            </p:txBody>
          </p:sp>
          <p:sp>
            <p:nvSpPr>
              <p:cNvPr id="98" name="TextBox 23">
                <a:extLst>
                  <a:ext uri="{FF2B5EF4-FFF2-40B4-BE49-F238E27FC236}">
                    <a16:creationId xmlns:a16="http://schemas.microsoft.com/office/drawing/2014/main" id="{E9277EBD-20AC-0684-ADFE-6AD81C1CF3AC}"/>
                  </a:ext>
                </a:extLst>
              </p:cNvPr>
              <p:cNvSpPr txBox="1"/>
              <p:nvPr/>
            </p:nvSpPr>
            <p:spPr>
              <a:xfrm>
                <a:off x="352425" y="4010024"/>
                <a:ext cx="5554142" cy="2352676"/>
              </a:xfrm>
              <a:prstGeom prst="roundRect">
                <a:avLst>
                  <a:gd name="adj" fmla="val 2142"/>
                </a:avLst>
              </a:prstGeom>
              <a:solidFill>
                <a:srgbClr val="000000">
                  <a:alpha val="50196"/>
                </a:srgb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>
                <a:defPPr>
                  <a:defRPr lang="de-DE"/>
                </a:defPPr>
                <a:lvl1pPr algn="just">
                  <a:spcBef>
                    <a:spcPts val="400"/>
                  </a:spcBef>
                  <a:buClr>
                    <a:schemeClr val="tx1"/>
                  </a:buClr>
                  <a:tabLst>
                    <a:tab pos="809625" algn="l"/>
                  </a:tabLst>
                  <a:defRPr sz="1200">
                    <a:latin typeface="Calibri" pitchFamily="34" charset="0"/>
                  </a:defRPr>
                </a:lvl1pPr>
                <a:lvl2pPr marL="0" lvl="1">
                  <a:spcBef>
                    <a:spcPts val="0"/>
                  </a:spcBef>
                  <a:buClr>
                    <a:schemeClr val="accent2"/>
                  </a:buClr>
                  <a:buSzPct val="100000"/>
                  <a:defRPr sz="1400">
                    <a:solidFill>
                      <a:srgbClr val="2E2E2E"/>
                    </a:solidFill>
                    <a:latin typeface="Calibri" pitchFamily="34" charset="0"/>
                    <a:cs typeface="Calibri" pitchFamily="34" charset="0"/>
                  </a:defRPr>
                </a:lvl2pPr>
              </a:lstStyle>
              <a:p>
                <a:pPr marL="0" marR="0" lvl="1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Use cases and results</a:t>
                </a:r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Calibri" pitchFamily="34" charset="0"/>
                </a:endParaRP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Verifies &amp; auto-rewrites unsafe queries pre-execution</a:t>
                </a: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9 test suites: unit, joins, updates, REST, DuckDB</a:t>
                </a: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4 integrations: library, REST, MCP wrapper, Dify</a:t>
                </a: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Multi-dialect parsing (SQLite, Postgres, +)</a:t>
                </a:r>
              </a:p>
            </p:txBody>
          </p:sp>
          <p:sp>
            <p:nvSpPr>
              <p:cNvPr id="99" name="TextBox 23">
                <a:extLst>
                  <a:ext uri="{FF2B5EF4-FFF2-40B4-BE49-F238E27FC236}">
                    <a16:creationId xmlns:a16="http://schemas.microsoft.com/office/drawing/2014/main" id="{6FDE6126-8E72-7983-EC99-B19B3D96D38F}"/>
                  </a:ext>
                </a:extLst>
              </p:cNvPr>
              <p:cNvSpPr txBox="1"/>
              <p:nvPr/>
            </p:nvSpPr>
            <p:spPr>
              <a:xfrm>
                <a:off x="5970141" y="1562100"/>
                <a:ext cx="5554142" cy="2352676"/>
              </a:xfrm>
              <a:prstGeom prst="roundRect">
                <a:avLst>
                  <a:gd name="adj" fmla="val 2142"/>
                </a:avLst>
              </a:prstGeom>
              <a:solidFill>
                <a:srgbClr val="000000">
                  <a:alpha val="50196"/>
                </a:srgb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>
                <a:defPPr>
                  <a:defRPr lang="de-DE"/>
                </a:defPPr>
                <a:lvl1pPr algn="just">
                  <a:spcBef>
                    <a:spcPts val="400"/>
                  </a:spcBef>
                  <a:buClr>
                    <a:schemeClr val="tx1"/>
                  </a:buClr>
                  <a:tabLst>
                    <a:tab pos="809625" algn="l"/>
                  </a:tabLst>
                  <a:defRPr sz="1200">
                    <a:latin typeface="Calibri" pitchFamily="34" charset="0"/>
                  </a:defRPr>
                </a:lvl1pPr>
                <a:lvl2pPr marL="0" lvl="1">
                  <a:spcBef>
                    <a:spcPts val="0"/>
                  </a:spcBef>
                  <a:buClr>
                    <a:schemeClr val="accent2"/>
                  </a:buClr>
                  <a:buSzPct val="100000"/>
                  <a:defRPr sz="1400">
                    <a:solidFill>
                      <a:srgbClr val="2E2E2E"/>
                    </a:solidFill>
                    <a:latin typeface="Calibri" pitchFamily="34" charset="0"/>
                    <a:cs typeface="Calibri" pitchFamily="34" charset="0"/>
                  </a:defRPr>
                </a:lvl2pPr>
              </a:lstStyle>
              <a:p>
                <a:pPr marL="0" marR="0" lvl="1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Hypothesis</a:t>
                </a:r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Calibri" pitchFamily="34" charset="0"/>
                </a:endParaRP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Coding assistants can ship a safety layer faster</a:t>
                </a: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Built with Claude Code + custom skills &amp; MCP</a:t>
                </a: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Engineering practices: tests-first, CI on every push</a:t>
                </a: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Spec-driven via reusable SKILL.md contracts</a:t>
                </a: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Tools: sqlglot, Flask, flasgger, python-pptx</a:t>
                </a: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F68E1C9-2A4B-8679-1BA3-A6CA99C882BF}"/>
              </a:ext>
            </a:extLst>
          </p:cNvPr>
          <p:cNvSpPr txBox="1"/>
          <p:nvPr/>
        </p:nvSpPr>
        <p:spPr>
          <a:xfrm>
            <a:off x="550863" y="405196"/>
            <a:ext cx="10873877" cy="762629"/>
          </a:xfrm>
          <a:prstGeom prst="rect">
            <a:avLst/>
          </a:prstGeom>
        </p:spPr>
        <p:txBody>
          <a:bodyPr vert="horz" lIns="0" tIns="216000" rIns="0" bIns="0" rtlCol="0" anchor="t" anchorCtr="0">
            <a:noAutofit/>
          </a:bodyPr>
          <a:lstStyle>
            <a:defPPr>
              <a:defRPr lang="pt-PT"/>
            </a:defPPr>
            <a:lvl1pPr marR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sql-data-guard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</a:b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A4I Hackathon — 4-quadrant one-pager (sample)</a:t>
            </a:r>
          </a:p>
        </p:txBody>
      </p:sp>
    </p:spTree>
    <p:extLst>
      <p:ext uri="{BB962C8B-B14F-4D97-AF65-F5344CB8AC3E}">
        <p14:creationId xmlns:p14="http://schemas.microsoft.com/office/powerpoint/2010/main" val="19347308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apgeminiInvent_DE_2024">
  <a:themeElements>
    <a:clrScheme name="Capgemini 2024">
      <a:dk1>
        <a:sysClr val="windowText" lastClr="000000"/>
      </a:dk1>
      <a:lt1>
        <a:srgbClr val="FFFFFF"/>
      </a:lt1>
      <a:dk2>
        <a:srgbClr val="000000"/>
      </a:dk2>
      <a:lt2>
        <a:srgbClr val="F6F6F6"/>
      </a:lt2>
      <a:accent1>
        <a:srgbClr val="0070AD"/>
      </a:accent1>
      <a:accent2>
        <a:srgbClr val="12ABDB"/>
      </a:accent2>
      <a:accent3>
        <a:srgbClr val="14596B"/>
      </a:accent3>
      <a:accent4>
        <a:srgbClr val="272936"/>
      </a:accent4>
      <a:accent5>
        <a:srgbClr val="0F878A"/>
      </a:accent5>
      <a:accent6>
        <a:srgbClr val="00BFBF"/>
      </a:accent6>
      <a:hlink>
        <a:srgbClr val="00929B"/>
      </a:hlink>
      <a:folHlink>
        <a:srgbClr val="00BFBF"/>
      </a:folHlink>
    </a:clrScheme>
    <a:fontScheme name="Capgemini 2024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noFill/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0000" tIns="46800" rIns="90000" bIns="46800" rtlCol="0" anchor="ctr">
        <a:spAutoFit/>
      </a:bodyPr>
      <a:lstStyle>
        <a:defPPr algn="l">
          <a:spcBef>
            <a:spcPct val="0"/>
          </a:spcBef>
          <a:defRPr sz="1400" dirty="0" err="1" smtClean="0"/>
        </a:defPPr>
      </a:lstStyle>
    </a:txDef>
  </a:objectDefaults>
  <a:extraClrSchemeLst/>
  <a:custClrLst>
    <a:custClr name="Green A">
      <a:srgbClr val="57CF80"/>
    </a:custClr>
    <a:custClr name="Green B">
      <a:srgbClr val="33B569"/>
    </a:custClr>
    <a:custClr name="Green C">
      <a:srgbClr val="2EA657"/>
    </a:custClr>
    <a:custClr name="Green D">
      <a:srgbClr val="178C3D"/>
    </a:custClr>
    <a:custClr name="Green E">
      <a:srgbClr val="176036"/>
    </a:custClr>
    <a:custClr name="Teal A">
      <a:srgbClr val="00E6E3"/>
    </a:custClr>
    <a:custClr name="Teal B">
      <a:srgbClr val="00D5D0"/>
    </a:custClr>
    <a:custClr name="Teal C">
      <a:srgbClr val="00BFBF"/>
    </a:custClr>
    <a:custClr name="Teal D">
      <a:srgbClr val="00929B"/>
    </a:custClr>
    <a:custClr name="Teal E">
      <a:srgbClr val="007D74"/>
    </a:custClr>
    <a:custClr name="Peacock A">
      <a:srgbClr val="00E0CB"/>
    </a:custClr>
    <a:custClr name="Peacock B">
      <a:srgbClr val="00B2A2"/>
    </a:custClr>
    <a:custClr name="Peacock C">
      <a:srgbClr val="0F878A"/>
    </a:custClr>
    <a:custClr name="Peacock D">
      <a:srgbClr val="0F6A73"/>
    </a:custClr>
    <a:custClr name="Peacock E">
      <a:srgbClr val="0F434A"/>
    </a:custClr>
    <a:custClr name="Sapphire A">
      <a:srgbClr val="338091"/>
    </a:custClr>
    <a:custClr name="Sapphire B">
      <a:srgbClr val="336B7D"/>
    </a:custClr>
    <a:custClr name="Sapphire C">
      <a:srgbClr val="14596B"/>
    </a:custClr>
    <a:custClr name="Sapphire D">
      <a:srgbClr val="214554"/>
    </a:custClr>
    <a:custClr name="Sapphire E">
      <a:srgbClr val="173340"/>
    </a:custClr>
    <a:custClr name="Violet A">
      <a:srgbClr val="E557AD"/>
    </a:custClr>
    <a:custClr name="Violet B">
      <a:srgbClr val="D13A8C"/>
    </a:custClr>
    <a:custClr name="Violet C">
      <a:srgbClr val="BA2980"/>
    </a:custClr>
    <a:custClr name="Violet D">
      <a:srgbClr val="A12980"/>
    </a:custClr>
    <a:custClr name="Violet E">
      <a:srgbClr val="811B6F"/>
    </a:custClr>
    <a:custClr name="Yellow A">
      <a:srgbClr val="FFDA80"/>
    </a:custClr>
    <a:custClr name="Yellow B">
      <a:srgbClr val="FFD068"/>
    </a:custClr>
    <a:custClr name="Yellow C">
      <a:srgbClr val="FFB24A"/>
    </a:custClr>
    <a:custClr name="Yellow D">
      <a:srgbClr val="FF9C29"/>
    </a:custClr>
    <a:custClr name="Yellow E">
      <a:srgbClr val="FF8E12"/>
    </a:custClr>
    <a:custClr name="Velvet A">
      <a:srgbClr val="9E4780"/>
    </a:custClr>
    <a:custClr name="Velvet B">
      <a:srgbClr val="802B73"/>
    </a:custClr>
    <a:custClr name="Velvet C">
      <a:srgbClr val="750D5C"/>
    </a:custClr>
    <a:custClr name="Velvet D">
      <a:srgbClr val="590A42"/>
    </a:custClr>
    <a:custClr name="Velvet E">
      <a:srgbClr val="42142E"/>
    </a:custClr>
    <a:custClr name="Red A">
      <a:srgbClr val="FF5770"/>
    </a:custClr>
    <a:custClr name="Red B">
      <a:srgbClr val="FF455E"/>
    </a:custClr>
    <a:custClr name="Red C">
      <a:srgbClr val="FF304D"/>
    </a:custClr>
    <a:custClr name="Red D">
      <a:srgbClr val="E30021"/>
    </a:custClr>
    <a:custClr name="Red E">
      <a:srgbClr val="A6001A"/>
    </a:custClr>
  </a:custClrLst>
  <a:extLst>
    <a:ext uri="{05A4C25C-085E-4340-85A3-A5531E510DB2}">
      <thm15:themeFamily xmlns:thm15="http://schemas.microsoft.com/office/thememl/2012/main" name="Blank.potx" id="{89E9DA0E-737A-4ECB-9103-3F31138B53EB}" vid="{FD14EC83-7CC7-4D31-A265-60FC3689235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1832537C23C2459BCBBAA6A77C54B9" ma:contentTypeVersion="0" ma:contentTypeDescription="Crée un document." ma:contentTypeScope="" ma:versionID="92fc0ec1838d0bbb6b334ceeecb8e31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9028b6788f95684bad4f0cdee3402c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2BE4F3B-6D91-43B4-BE31-505E7E50FD37}"/>
</file>

<file path=customXml/itemProps2.xml><?xml version="1.0" encoding="utf-8"?>
<ds:datastoreItem xmlns:ds="http://schemas.openxmlformats.org/officeDocument/2006/customXml" ds:itemID="{A72189BF-4A9A-4F30-ADDB-71BA0BF348BF}"/>
</file>

<file path=customXml/itemProps3.xml><?xml version="1.0" encoding="utf-8"?>
<ds:datastoreItem xmlns:ds="http://schemas.openxmlformats.org/officeDocument/2006/customXml" ds:itemID="{323392BA-43A8-4275-AE3B-74377F9EE358}"/>
</file>

<file path=docMetadata/LabelInfo.xml><?xml version="1.0" encoding="utf-8"?>
<clbl:labelList xmlns:clbl="http://schemas.microsoft.com/office/2020/mipLabelMetadata">
  <clbl:label id="{47dea8b7-9eaa-40b7-9fe0-5c9e237036c0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</Words>
  <Application>Microsoft Office PowerPoint</Application>
  <PresentationFormat>Grand écran</PresentationFormat>
  <Paragraphs>21</Paragraphs>
  <Slides>1</Slides>
  <Notes>1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9" baseType="lpstr">
      <vt:lpstr>Aptos</vt:lpstr>
      <vt:lpstr>Arial</vt:lpstr>
      <vt:lpstr>Century Gothic</vt:lpstr>
      <vt:lpstr>Ubuntu</vt:lpstr>
      <vt:lpstr>Verdana</vt:lpstr>
      <vt:lpstr>Wingdings</vt:lpstr>
      <vt:lpstr>CapgeminiInvent_DE_2024</vt:lpstr>
      <vt:lpstr>think-cell Slide</vt:lpstr>
      <vt:lpstr>Présentation PowerPoint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SANCHEZ, Reynald</dc:creator>
  <cp:lastModifiedBy>SANCHEZ, Reynald</cp:lastModifiedBy>
  <cp:revision>1</cp:revision>
  <dcterms:created xsi:type="dcterms:W3CDTF">2026-06-19T08:16:11Z</dcterms:created>
  <dcterms:modified xsi:type="dcterms:W3CDTF">2026-06-19T08:16:57Z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0x010100531832537C23C2459BCBBAA6A77C54B9</vt:lpwstr>
  </property>
</Properties>
</file>